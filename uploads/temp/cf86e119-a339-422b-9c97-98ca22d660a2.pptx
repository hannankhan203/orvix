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1569" y="1489509"/>
            <a:ext cx="7768472" cy="27392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sz="5400" dirty="0" smtClean="0"/>
              <a:t>Lab 6: Virtual LAN (VLANs)</a:t>
            </a:r>
          </a:p>
          <a:p>
            <a:pPr algn="ctr">
              <a:defRPr sz="2800" b="1"/>
            </a:pPr>
            <a:endParaRPr lang="en-US" sz="5400" dirty="0" smtClean="0"/>
          </a:p>
          <a:p>
            <a:pPr>
              <a:defRPr sz="2800" b="1"/>
            </a:pPr>
            <a:r>
              <a:rPr lang="en-US" sz="3200" dirty="0" smtClean="0"/>
              <a:t>Course: Computer Networks</a:t>
            </a:r>
          </a:p>
          <a:p>
            <a:pPr>
              <a:defRPr sz="2800" b="1"/>
            </a:pPr>
            <a:r>
              <a:rPr lang="en-US" sz="3200" dirty="0" smtClean="0"/>
              <a:t>Prepared by: </a:t>
            </a:r>
            <a:r>
              <a:rPr lang="en-US" sz="3200" dirty="0" err="1" smtClean="0"/>
              <a:t>Hajra</a:t>
            </a:r>
            <a:r>
              <a:rPr lang="en-US" sz="3200" dirty="0" smtClean="0"/>
              <a:t> </a:t>
            </a:r>
            <a:r>
              <a:rPr lang="en-US" sz="3200" dirty="0" err="1" smtClean="0"/>
              <a:t>Batool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9682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Create and configure VLAN 10 and VLAN 20 in Cisco Packet Tracer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Assign switch ports to different VLANs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Understand and configure Router on a Stick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 Native VLAN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Identify and fix Native VLAN mismatch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 VLAN?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stands for Virtual Local Area Network.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It logically divides one physical switch into separate networks.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Each VLAN creates a separate broadcast domain.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Devices in different VLANs cannot communicate directly without routing.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VLANs improve organization, management and network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52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VLANs Used in This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10 → Voice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20 → Sales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Giving VLANs meaningful names makes administration easier.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Names can represent departments or network roles.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Example: Voice, Sales, Marketing, HR,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27971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Creating VLANs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Enter configuration mode: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</a:t>
            </a:r>
            <a:r>
              <a:rPr sz="2800" b="1" i="1" dirty="0" err="1"/>
              <a:t>vlan</a:t>
            </a:r>
            <a:r>
              <a:rPr sz="2800" b="1" i="1" dirty="0"/>
              <a:t> 10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config-vlan</a:t>
            </a:r>
            <a:r>
              <a:rPr sz="2800" b="1" i="1" dirty="0"/>
              <a:t>)# name Voice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</a:t>
            </a:r>
            <a:r>
              <a:rPr sz="2800" b="1" i="1" dirty="0" err="1"/>
              <a:t>vlan</a:t>
            </a:r>
            <a:r>
              <a:rPr sz="2800" b="1" i="1" dirty="0"/>
              <a:t> 20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config-vlan</a:t>
            </a:r>
            <a:r>
              <a:rPr sz="2800" b="1" i="1" dirty="0"/>
              <a:t>)# name Sales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Verify with: </a:t>
            </a:r>
            <a:r>
              <a:rPr sz="2800" b="1" i="1" dirty="0"/>
              <a:t>show </a:t>
            </a:r>
            <a:r>
              <a:rPr sz="2800" b="1" i="1" dirty="0" err="1"/>
              <a:t>vlan</a:t>
            </a:r>
            <a:r>
              <a:rPr sz="2800" b="1" i="1" dirty="0"/>
              <a:t>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28907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Verifying VLANs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787652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b="1" i="1" dirty="0"/>
              <a:t>Command: show </a:t>
            </a:r>
            <a:r>
              <a:rPr sz="2800" b="1" i="1" dirty="0" err="1"/>
              <a:t>vlan</a:t>
            </a:r>
            <a:r>
              <a:rPr sz="2800" b="1" i="1" dirty="0"/>
              <a:t> brief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Displays VLAN ID and VLAN name.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Also shows the switch ports assigned to each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Newly created VLANs normally have no access ports assigned until we configure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8884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Assigning a Port to VLAN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Select the interface: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interface </a:t>
            </a:r>
            <a:r>
              <a:rPr sz="2800" b="1" i="1" dirty="0" err="1"/>
              <a:t>fastEthernet</a:t>
            </a:r>
            <a:r>
              <a:rPr sz="2800" b="1" i="1" dirty="0"/>
              <a:t> 0/1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Set it as an access port: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mode access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Assign VLAN 10: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access </a:t>
            </a:r>
            <a:r>
              <a:rPr sz="2800" b="1" i="1" dirty="0" err="1"/>
              <a:t>vlan</a:t>
            </a:r>
            <a:r>
              <a:rPr sz="2800" b="1" i="1" dirty="0"/>
              <a:t>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3006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Assigning Multiple Ports to VLAN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Use interface range to configure several ports together: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interface range </a:t>
            </a:r>
            <a:r>
              <a:rPr sz="2800" b="1" i="1" dirty="0" err="1"/>
              <a:t>fastEthernet</a:t>
            </a:r>
            <a:r>
              <a:rPr sz="2800" b="1" i="1" dirty="0"/>
              <a:t> 0/2 - 6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-if-range)# </a:t>
            </a:r>
            <a:r>
              <a:rPr sz="2800" b="1" i="1" dirty="0" err="1"/>
              <a:t>switchport</a:t>
            </a:r>
            <a:r>
              <a:rPr sz="2800" b="1" i="1" dirty="0"/>
              <a:t> mode access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-if-range)# </a:t>
            </a:r>
            <a:r>
              <a:rPr sz="2800" b="1" i="1" dirty="0" err="1"/>
              <a:t>switchport</a:t>
            </a:r>
            <a:r>
              <a:rPr sz="2800" b="1" i="1" dirty="0"/>
              <a:t> access </a:t>
            </a:r>
            <a:r>
              <a:rPr sz="2800" b="1" i="1" dirty="0" err="1"/>
              <a:t>vlan</a:t>
            </a:r>
            <a:r>
              <a:rPr sz="2800" b="1" i="1" dirty="0"/>
              <a:t> 20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This avoids repeating the same commands for every 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7045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Port Assignment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Fa0/1 → VLAN 10 (Voice)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Fa0/2–Fa0/6 → VLAN 20 (Sales)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Access ports carry traffic for one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By default, switch ports belong to VLAN 1.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Use show </a:t>
            </a:r>
            <a:r>
              <a:rPr sz="2800" dirty="0" err="1"/>
              <a:t>vlan</a:t>
            </a:r>
            <a:r>
              <a:rPr sz="2800" dirty="0"/>
              <a:t> brief to verify assignments.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5357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Why Inter-VLAN Routing?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Each VLAN represents a separate network/subnet.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10 and VLAN 20 are isolated at Layer 2.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 router or Layer 3 switch is required for communication between VLANs.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1700"/>
            </a:pPr>
            <a:r>
              <a:rPr sz="2800" dirty="0"/>
              <a:t>Example: A Sales PC in VLAN 20 needs routing to communicate with a Voice PC in VLAN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0674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Router on a Stick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1700"/>
            </a:pPr>
            <a:r>
              <a:rPr sz="2800" dirty="0"/>
              <a:t>Router on a Stick enables routing between multiple VLANs using one physical router interface.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router interface is divided into logical sub-interfaces.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Each sub-interface receives an IP address for a different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switch-to-router link must be configured as a trunk.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This saves physical router and switch interfaces.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5783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Router on a Stick: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Switch receives traffic from VLAN 10 or VLAN 20.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trunk carries traffic for multiple VLANs to the router.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Router sub-interface identifies the VLAN using 802.1Q tagging.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router routes traffic between the VLAN networks.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packet returns through the trunk to the destination VLAN.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8727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Router Sub-Interfaces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23371"/>
            <a:ext cx="1069848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Example for VLAN 10: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</a:t>
            </a:r>
            <a:r>
              <a:rPr sz="2800" b="1" i="1" dirty="0"/>
              <a:t>)# interface g0/0.10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config-subif</a:t>
            </a:r>
            <a:r>
              <a:rPr sz="2800" b="1" i="1" dirty="0"/>
              <a:t>)# encapsulation dot1Q 10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config-subif</a:t>
            </a:r>
            <a:r>
              <a:rPr sz="2800" b="1" i="1" dirty="0"/>
              <a:t>)# </a:t>
            </a:r>
            <a:r>
              <a:rPr sz="2800" b="1" i="1" dirty="0" err="1"/>
              <a:t>ip</a:t>
            </a:r>
            <a:r>
              <a:rPr sz="2800" b="1" i="1" dirty="0"/>
              <a:t> address 192.168.10.1 255.255.255.0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Example for VLAN 20: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</a:t>
            </a:r>
            <a:r>
              <a:rPr sz="2800" b="1" i="1" dirty="0"/>
              <a:t>)# interface g0/0.20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config-subif</a:t>
            </a:r>
            <a:r>
              <a:rPr sz="2800" b="1" i="1" dirty="0"/>
              <a:t>)# encapsulation dot1Q 20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Router(</a:t>
            </a:r>
            <a:r>
              <a:rPr sz="2800" b="1" i="1" dirty="0" err="1"/>
              <a:t>config-subif</a:t>
            </a:r>
            <a:r>
              <a:rPr sz="2800" b="1" i="1" dirty="0"/>
              <a:t>)# </a:t>
            </a:r>
            <a:r>
              <a:rPr sz="2800" b="1" i="1" dirty="0" err="1"/>
              <a:t>ip</a:t>
            </a:r>
            <a:r>
              <a:rPr sz="2800" b="1" i="1" dirty="0"/>
              <a:t> address 192.168.20.1 255.255.255.0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337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Default Gateway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Each end device must use the router sub-interface as its default gateway.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10 PCs → Gateway 192.168.10.1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VLAN 20 PCs → Gateway 192.168.20.1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gateway forwards traffic when the destination is in another network.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Test connectivity with ping.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Configure the Switch Trunk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switch port connected to the router must carry multiple VLANs.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interface </a:t>
            </a:r>
            <a:r>
              <a:rPr sz="2800" b="1" i="1" dirty="0" err="1"/>
              <a:t>gigabitEthernet</a:t>
            </a:r>
            <a:r>
              <a:rPr sz="2800" b="1" i="1" dirty="0"/>
              <a:t> 0/1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mode trunk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trunk allows VLAN 10 and VLAN 20 traffic to reach the router.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Verify using: </a:t>
            </a:r>
            <a:r>
              <a:rPr sz="2800" b="1" i="1" dirty="0"/>
              <a:t>show interfaces trunk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814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Alternative: Separate Router Interfaces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Inter-VLAN routing can also be configured using separate physical interfaces.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Each VLAN requires a separate router/switch connection.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This consumes more physical interfaces.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It becomes inefficient when many VLANs are present.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1700"/>
            </a:pPr>
            <a:r>
              <a:rPr sz="2800" dirty="0"/>
              <a:t>Router on a Stick solves this by using one physical router interface with multiple sub-interfaces.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6056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Layer 3 Switch Alternative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 Layer 3 switch can perform routing between VLANs.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Create a Switch Virtual Interface (SVI) for each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Assign an IP address to each SVI.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switch performs routing between VLANs.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Layer 3 switches are powerful but can be more expensive than basic switches.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8954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What is Native VLAN?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Native VLAN is the VLAN assigned to untagged traffic received on a trunk.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802.1Q trunks normally tag VLAN traffic.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Native VLAN traffic is carried without a VLAN tag.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By default, Cisco switches use VLAN 1 as the native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native VLAN should be configured consistently on both ends of a trunk.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6100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Why Do We Need Native VLAN?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Some devices cannot add VLAN tags to their traffic.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Examples include legacy hubs and certain end-device connections.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Untagged traffic arriving on a trunk is placed into the configured native VLAN.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Native VLAN can also be used with IP phone + PC daisy-chain scenarios.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key point: untagged traffic must have an agreed VLAN on the trunk.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Configuring Native VLAN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Example: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)# interface </a:t>
            </a:r>
            <a:r>
              <a:rPr sz="2800" b="1" i="1" dirty="0" err="1"/>
              <a:t>gigabitEthernet</a:t>
            </a:r>
            <a:r>
              <a:rPr sz="2800" b="1" i="1" dirty="0"/>
              <a:t> 0/1</a:t>
            </a:r>
          </a:p>
          <a:p>
            <a:pPr>
              <a:spcAft>
                <a:spcPts val="1200"/>
              </a:spcAft>
              <a:defRPr sz="2000">
                <a:latin typeface="Consolas"/>
              </a:defRPr>
            </a:pPr>
            <a:r>
              <a:rPr sz="2800" b="1" i="1" dirty="0"/>
              <a:t>Switch(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trunk native </a:t>
            </a:r>
            <a:r>
              <a:rPr sz="2800" b="1" i="1" dirty="0" err="1"/>
              <a:t>vlan</a:t>
            </a:r>
            <a:r>
              <a:rPr sz="2800" b="1" i="1" dirty="0"/>
              <a:t> 10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The native VLAN becomes VLAN 10 on that trunk interface.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 the same native VLAN on the other end of the trunk.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0984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Native VLAN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1700"/>
            </a:pPr>
            <a:r>
              <a:rPr sz="2800" dirty="0"/>
              <a:t>A native VLAN mismatch occurs when the two ends of a trunk use different native VLANs.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Example: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Switch A native VLAN → 10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Switch B native VLAN → 20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This causes untagged traffic to be associated with different VLANs at each end.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Cisco may display a native VLAN mismatch warning.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7089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How to Detect a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Use:</a:t>
            </a:r>
          </a:p>
          <a:p>
            <a:pPr>
              <a:spcAft>
                <a:spcPts val="1200"/>
              </a:spcAft>
              <a:defRPr sz="2000"/>
            </a:pPr>
            <a:r>
              <a:rPr sz="2800" b="1" i="1" dirty="0"/>
              <a:t>show interfaces trunk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Check the Native VLAN column on both trunk interfaces.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Compare the native VLAN configured on each side.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Also check switch messages/warnings for native VLAN mismatch.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1853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Fixing Native VLAN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Choose one native VLAN for the trunk.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 the same native VLAN on both ends.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Example:</a:t>
            </a:r>
          </a:p>
          <a:p>
            <a:pPr>
              <a:spcAft>
                <a:spcPts val="1200"/>
              </a:spcAft>
              <a:defRPr sz="2000"/>
            </a:pPr>
            <a:r>
              <a:rPr sz="2800" b="1" i="1" dirty="0"/>
              <a:t>Switch A(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trunk native </a:t>
            </a:r>
            <a:r>
              <a:rPr sz="2800" b="1" i="1" dirty="0" err="1"/>
              <a:t>vlan</a:t>
            </a:r>
            <a:r>
              <a:rPr sz="2800" b="1" i="1" dirty="0"/>
              <a:t> 10</a:t>
            </a:r>
          </a:p>
          <a:p>
            <a:pPr>
              <a:spcAft>
                <a:spcPts val="1200"/>
              </a:spcAft>
              <a:defRPr sz="2000"/>
            </a:pPr>
            <a:r>
              <a:rPr sz="2800" b="1" i="1" dirty="0"/>
              <a:t>Switch B(</a:t>
            </a:r>
            <a:r>
              <a:rPr sz="2800" b="1" i="1" dirty="0" err="1"/>
              <a:t>config</a:t>
            </a:r>
            <a:r>
              <a:rPr sz="2800" b="1" i="1" dirty="0"/>
              <a:t>-if)# </a:t>
            </a:r>
            <a:r>
              <a:rPr sz="2800" b="1" i="1" dirty="0" err="1"/>
              <a:t>switchport</a:t>
            </a:r>
            <a:r>
              <a:rPr sz="2800" b="1" i="1" dirty="0"/>
              <a:t> trunk native </a:t>
            </a:r>
            <a:r>
              <a:rPr sz="2800" b="1" i="1" dirty="0" err="1"/>
              <a:t>vlan</a:t>
            </a:r>
            <a:r>
              <a:rPr sz="2800" b="1" i="1" dirty="0"/>
              <a:t> 10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Verify again with: show interfaces trunk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568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Troubleshooting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/>
              <a:t>1. Confirm VLAN 10 and VLAN 20 exist: show </a:t>
            </a:r>
            <a:r>
              <a:rPr sz="2800" dirty="0" err="1"/>
              <a:t>vlan</a:t>
            </a:r>
            <a:r>
              <a:rPr sz="2800" dirty="0"/>
              <a:t> brief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2. Confirm access ports are assigned correctly.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3. Confirm the router link is a trunk.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4. Confirm router sub-interfaces use correct VLAN IDs.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5. Check PC IP addresses and default gateways.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6. Check native VLAN on both trunk ends.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/>
              <a:t>7. Test using ping.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4236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Complete Lab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Create VLAN 10 → Voice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Create VLAN 20 → Sales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Assign Fa0/1 to VLAN 10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Assign Fa0/2–Fa0/6 to VLAN 20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 switch-to-router trunk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Create router sub-interfaces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 IP addresses and gateways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Configure/verify Native VLAN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Test inter-VLAN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VLANs, Router on a Stick &amp; Native VLAN  | 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9166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Important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show </a:t>
            </a:r>
            <a:r>
              <a:rPr sz="2800" dirty="0" err="1"/>
              <a:t>vlan</a:t>
            </a:r>
            <a:r>
              <a:rPr sz="2800" dirty="0"/>
              <a:t> brief → View VLANs and access-port assignments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show interfaces trunk → View trunk and native VLAN information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 err="1"/>
              <a:t>switchport</a:t>
            </a:r>
            <a:r>
              <a:rPr sz="2800" dirty="0"/>
              <a:t> mode access → Configure an access port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 err="1"/>
              <a:t>switchport</a:t>
            </a:r>
            <a:r>
              <a:rPr sz="2800" dirty="0"/>
              <a:t> access </a:t>
            </a:r>
            <a:r>
              <a:rPr sz="2800" dirty="0" err="1"/>
              <a:t>vlan</a:t>
            </a:r>
            <a:r>
              <a:rPr sz="2800" dirty="0"/>
              <a:t> 10 → Assign an access port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 err="1"/>
              <a:t>switchport</a:t>
            </a:r>
            <a:r>
              <a:rPr sz="2800" dirty="0"/>
              <a:t> mode trunk → Configure a trunk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 err="1"/>
              <a:t>switchport</a:t>
            </a:r>
            <a:r>
              <a:rPr sz="2800" dirty="0"/>
              <a:t> trunk native </a:t>
            </a:r>
            <a:r>
              <a:rPr sz="2800" dirty="0" err="1"/>
              <a:t>vlan</a:t>
            </a:r>
            <a:r>
              <a:rPr sz="2800" dirty="0"/>
              <a:t> 10 → Set native VLAN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sz="2800" dirty="0"/>
              <a:t>encapsulation dot1Q 10 → Map sub-interface to VLAN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VLANs, Router on a Stick &amp; Native VLAN  |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1257</Words>
  <Application>Microsoft Office PowerPoint</Application>
  <PresentationFormat>Widescreen</PresentationFormat>
  <Paragraphs>170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MUHAMMMAD ABDULLAH</dc:creator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2026-10-05T05:15:33Z</dcterms:modified>
  <cp:category/>
</cp:coreProperties>
</file>